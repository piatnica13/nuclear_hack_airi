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</a:t>
            </a: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ец </a:t>
            </a: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заголо</a:t>
            </a: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вка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1B2A87-7449-4549-9205-DBB09DD76911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989EB2-4A11-412D-B570-C38FB089933E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5D88F0-4C51-4E87-BCFE-4DF026693389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56CD88-D260-4F83-AB16-C3E6909CAFE6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924390-B4DB-41D3-803F-DED194238DB7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A7798E-7536-4FDB-B1EF-F5533D53D5A3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169F0D-ECDE-4E80-8188-C7BBA0C36961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4CB11D-DD7A-4B79-97A1-0BA7FE72661B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6135E6-FF63-4514-8EED-18D6A35DE147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9C0255-CA03-4A6A-B05D-618D230B0BDA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609E9A-E2C9-4E75-86D2-F6F04C5E0D66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.png"/><Relationship Id="rId3" Type="http://schemas.openxmlformats.org/officeDocument/2006/relationships/image" Target="../media/image3.png"/><Relationship Id="rId4" Type="http://schemas.openxmlformats.org/officeDocument/2006/relationships/image" Target="../media/image4.jpeg"/><Relationship Id="rId5" Type="http://schemas.openxmlformats.org/officeDocument/2006/relationships/image" Target="../media/image5.jpeg"/><Relationship Id="rId6" Type="http://schemas.openxmlformats.org/officeDocument/2006/relationships/image" Target="../media/image6.jpeg"/><Relationship Id="rId7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4" descr="Picture background"/>
          <p:cNvPicPr/>
          <p:nvPr/>
        </p:nvPicPr>
        <p:blipFill>
          <a:blip r:embed="rId1"/>
          <a:stretch/>
        </p:blipFill>
        <p:spPr>
          <a:xfrm>
            <a:off x="0" y="0"/>
            <a:ext cx="12191760" cy="688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Прямоугольник 13"/>
          <p:cNvSpPr/>
          <p:nvPr/>
        </p:nvSpPr>
        <p:spPr>
          <a:xfrm>
            <a:off x="2964240" y="475920"/>
            <a:ext cx="609552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Прямоугольник 14"/>
          <p:cNvSpPr/>
          <p:nvPr/>
        </p:nvSpPr>
        <p:spPr>
          <a:xfrm>
            <a:off x="3116520" y="628200"/>
            <a:ext cx="609552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Прямоугольник 6"/>
          <p:cNvSpPr/>
          <p:nvPr/>
        </p:nvSpPr>
        <p:spPr>
          <a:xfrm>
            <a:off x="2291400" y="0"/>
            <a:ext cx="7746120" cy="13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Times New Roman"/>
              </a:rPr>
              <a:t>Определение минимально необходимого размера для автоэнкодера атмофсердатасетаных данных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Прямоугольник 11"/>
          <p:cNvSpPr/>
          <p:nvPr/>
        </p:nvSpPr>
        <p:spPr>
          <a:xfrm>
            <a:off x="7571880" y="5824080"/>
            <a:ext cx="460368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lang="ru-RU" sz="1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Название команды</a:t>
            </a: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: Качки</a:t>
            </a:r>
            <a:br>
              <a:rPr sz="1400"/>
            </a:br>
            <a:r>
              <a:rPr lang="ru-RU" sz="1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Участники</a:t>
            </a: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: Мантров Александр Юрьевич @mandoronov</a:t>
            </a:r>
            <a:br>
              <a:rPr sz="1400"/>
            </a:b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Горьковенко Константин Андреевич @Piatnica_13</a:t>
            </a:r>
            <a:br>
              <a:rPr sz="1400"/>
            </a:b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Петрович Игорь Сергеевич @us2ern7ame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4" descr="Picture background"/>
          <p:cNvPicPr/>
          <p:nvPr/>
        </p:nvPicPr>
        <p:blipFill>
          <a:blip r:embed="rId1"/>
          <a:stretch/>
        </p:blipFill>
        <p:spPr>
          <a:xfrm>
            <a:off x="0" y="0"/>
            <a:ext cx="12191760" cy="688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Прямоугольник 7"/>
          <p:cNvSpPr/>
          <p:nvPr/>
        </p:nvSpPr>
        <p:spPr>
          <a:xfrm>
            <a:off x="5110560" y="0"/>
            <a:ext cx="249588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Times New Roman"/>
              </a:rPr>
              <a:t>Цели и задачи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7" name="Группа 10"/>
          <p:cNvGrpSpPr/>
          <p:nvPr/>
        </p:nvGrpSpPr>
        <p:grpSpPr>
          <a:xfrm>
            <a:off x="912240" y="1269720"/>
            <a:ext cx="10064160" cy="1908000"/>
            <a:chOff x="912240" y="1269720"/>
            <a:chExt cx="10064160" cy="1908000"/>
          </a:xfrm>
        </p:grpSpPr>
        <p:sp>
          <p:nvSpPr>
            <p:cNvPr id="68" name="Прямоугольник 8"/>
            <p:cNvSpPr/>
            <p:nvPr/>
          </p:nvSpPr>
          <p:spPr>
            <a:xfrm>
              <a:off x="912240" y="1269720"/>
              <a:ext cx="10064160" cy="738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ru-RU" sz="1400" b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Цель:</a:t>
              </a:r>
              <a:r>
                <a:rPr lang="ru-RU" sz="14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 найти минимальный размер обучающей выборки, при котором качество автоэнкодера выходит на плато.</a:t>
              </a: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br>
                <a:rPr sz="1400"/>
              </a:b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Прямоугольник 9"/>
            <p:cNvSpPr/>
            <p:nvPr/>
          </p:nvSpPr>
          <p:spPr>
            <a:xfrm>
              <a:off x="912240" y="2008440"/>
              <a:ext cx="4595760" cy="11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just" defTabSz="914400">
                <a:lnSpc>
                  <a:spcPct val="100000"/>
                </a:lnSpc>
              </a:pPr>
              <a:r>
                <a:rPr lang="ru-RU" sz="1400" b="1" u="none" strike="noStrike">
                  <a:solidFill>
                    <a:schemeClr val="dk1"/>
                  </a:solidFill>
                  <a:effectLst/>
                  <a:uFillTx/>
                  <a:latin typeface="Times New Roman"/>
                </a:rPr>
                <a:t>Задачи:</a:t>
              </a: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ct val="100000"/>
                </a:lnSpc>
              </a:pPr>
              <a:r>
                <a:rPr lang="ru-RU" sz="1400" b="0" u="none" strike="noStrike">
                  <a:solidFill>
                    <a:schemeClr val="dk1"/>
                  </a:solidFill>
                  <a:effectLst/>
                  <a:uFillTx/>
                  <a:latin typeface="Times New Roman"/>
                </a:rPr>
                <a:t>1. Провести серию запусков с разным размером датасета</a:t>
              </a: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ct val="100000"/>
                </a:lnSpc>
              </a:pPr>
              <a:r>
                <a:rPr lang="ru-RU" sz="1400" b="0" u="none" strike="noStrike">
                  <a:solidFill>
                    <a:schemeClr val="dk1"/>
                  </a:solidFill>
                  <a:effectLst/>
                  <a:uFillTx/>
                  <a:latin typeface="Times New Roman"/>
                </a:rPr>
                <a:t>2. Построить зависимость метрики от количества данных</a:t>
              </a: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ct val="100000"/>
                </a:lnSpc>
              </a:pPr>
              <a:r>
                <a:rPr lang="ru-RU" sz="1400" b="0" u="none" strike="noStrike">
                  <a:solidFill>
                    <a:schemeClr val="dk1"/>
                  </a:solidFill>
                  <a:effectLst/>
                  <a:uFillTx/>
                  <a:latin typeface="Times New Roman"/>
                </a:rPr>
                <a:t>3. Аппроксимировать степенную кривую</a:t>
              </a: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ct val="100000"/>
                </a:lnSpc>
              </a:pPr>
              <a:r>
                <a:rPr lang="ru-RU" sz="1400" b="0" u="none" strike="noStrike">
                  <a:solidFill>
                    <a:schemeClr val="dk1"/>
                  </a:solidFill>
                  <a:effectLst/>
                  <a:uFillTx/>
                  <a:latin typeface="Times New Roman"/>
                </a:rPr>
                <a:t>4. Определить точку насыщения по заданным критериям</a:t>
              </a: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4" descr="Picture background"/>
          <p:cNvPicPr/>
          <p:nvPr/>
        </p:nvPicPr>
        <p:blipFill>
          <a:blip r:embed="rId1"/>
          <a:stretch/>
        </p:blipFill>
        <p:spPr>
          <a:xfrm>
            <a:off x="0" y="0"/>
            <a:ext cx="12191760" cy="688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Прямоугольник 3"/>
          <p:cNvSpPr/>
          <p:nvPr/>
        </p:nvSpPr>
        <p:spPr>
          <a:xfrm>
            <a:off x="5023080" y="166320"/>
            <a:ext cx="255132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Проблематика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Прямоугольник 6"/>
          <p:cNvSpPr/>
          <p:nvPr/>
        </p:nvSpPr>
        <p:spPr>
          <a:xfrm>
            <a:off x="676080" y="1722960"/>
            <a:ext cx="7164000" cy="11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lang="ru-RU" sz="1400" b="1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1</a:t>
            </a:r>
            <a:r>
              <a:rPr lang="ru-RU" sz="1400" b="0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. Данные ERA5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ru-RU" sz="1400" b="1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2</a:t>
            </a:r>
            <a:r>
              <a:rPr lang="ru-RU" sz="1400" b="0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. Сбор и хранение большого датасета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ru-RU" sz="1400" b="1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3</a:t>
            </a:r>
            <a:r>
              <a:rPr lang="ru-RU" sz="1400" b="0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. Обучение на избыточных данных — трата GPU-часов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ru-RU" sz="1400" b="1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4. </a:t>
            </a:r>
            <a:r>
              <a:rPr lang="ru-RU" sz="1400" b="0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Неизвестно заранее, сколько данных достаточно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ru-RU" sz="1400" b="1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5. </a:t>
            </a:r>
            <a:r>
              <a:rPr lang="ru-RU" sz="1400" b="0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Решение</a:t>
            </a:r>
            <a:r>
              <a:rPr lang="ru-RU" sz="1400" b="1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:</a:t>
            </a:r>
            <a:r>
              <a:rPr lang="ru-RU" sz="1400" b="0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 найти плато эмпирически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4" descr="Picture background"/>
          <p:cNvPicPr/>
          <p:nvPr/>
        </p:nvPicPr>
        <p:blipFill>
          <a:blip r:embed="rId1"/>
          <a:stretch/>
        </p:blipFill>
        <p:spPr>
          <a:xfrm>
            <a:off x="0" y="-30240"/>
            <a:ext cx="12191760" cy="688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Прямоугольник 3"/>
          <p:cNvSpPr/>
          <p:nvPr/>
        </p:nvSpPr>
        <p:spPr>
          <a:xfrm>
            <a:off x="3875040" y="156960"/>
            <a:ext cx="50763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Свёрточный автокодировщик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Прямоугольник 7"/>
          <p:cNvSpPr/>
          <p:nvPr/>
        </p:nvSpPr>
        <p:spPr>
          <a:xfrm>
            <a:off x="7257960" y="1720800"/>
            <a:ext cx="44568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76" name="Группа 11"/>
          <p:cNvGrpSpPr/>
          <p:nvPr/>
        </p:nvGrpSpPr>
        <p:grpSpPr>
          <a:xfrm>
            <a:off x="313920" y="2757240"/>
            <a:ext cx="3758400" cy="3534480"/>
            <a:chOff x="313920" y="2757240"/>
            <a:chExt cx="3758400" cy="3534480"/>
          </a:xfrm>
        </p:grpSpPr>
        <p:sp>
          <p:nvSpPr>
            <p:cNvPr id="77" name="Прямоугольник 8"/>
            <p:cNvSpPr/>
            <p:nvPr/>
          </p:nvSpPr>
          <p:spPr>
            <a:xfrm>
              <a:off x="313920" y="3165840"/>
              <a:ext cx="3758400" cy="312588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ru-RU" sz="1400" b="0" u="none" strike="noStrik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Times New Roman"/>
                </a:rPr>
                <a:t>WeatherBench2 ERA5</a:t>
              </a:r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ru-RU" sz="1400" b="0" u="none" strike="noStrik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Times New Roman"/>
                </a:rPr>
                <a:t>       ↓</a:t>
              </a:r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ru-RU" sz="1400" b="0" u="none" strike="noStrik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Times New Roman"/>
                </a:rPr>
                <a:t>Случайный временной срез (28 каналов)</a:t>
              </a:r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ru-RU" sz="1400" b="0" u="none" strike="noStrik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Times New Roman"/>
                </a:rPr>
                <a:t>       ↓</a:t>
              </a:r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ru-RU" sz="1400" b="0" u="none" strike="noStrik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Times New Roman"/>
                </a:rPr>
                <a:t>Нормализация</a:t>
              </a:r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ru-RU" sz="1400" b="0" u="none" strike="noStrik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Times New Roman"/>
                </a:rPr>
                <a:t>       ↓</a:t>
              </a:r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ru-RU" sz="1400" b="0" u="none" strike="noStrik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Times New Roman"/>
                </a:rPr>
                <a:t>Encoder → Латент z (компактное представление)</a:t>
              </a:r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ru-RU" sz="1400" b="0" u="none" strike="noStrik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Times New Roman"/>
                </a:rPr>
                <a:t>       ↓</a:t>
              </a:r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ru-RU" sz="1400" b="0" u="none" strike="noStrik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Times New Roman"/>
                </a:rPr>
                <a:t>Decoder → Восстановленный ERA5</a:t>
              </a:r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ru-RU" sz="1400" b="0" u="none" strike="noStrik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Times New Roman"/>
                </a:rPr>
                <a:t>       ↓</a:t>
              </a:r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ru-RU" sz="1400" b="0" u="none" strike="noStrik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Times New Roman"/>
                </a:rPr>
                <a:t>Loss (ошибка реконструкции) → Backprop</a:t>
              </a:r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Прямоугольник 10"/>
            <p:cNvSpPr/>
            <p:nvPr/>
          </p:nvSpPr>
          <p:spPr>
            <a:xfrm>
              <a:off x="1572120" y="2757240"/>
              <a:ext cx="18432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endParaRPr lang="ru-RU" sz="1800" b="1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79" name="Прямоугольник 12"/>
          <p:cNvSpPr/>
          <p:nvPr/>
        </p:nvSpPr>
        <p:spPr>
          <a:xfrm>
            <a:off x="313920" y="1018080"/>
            <a:ext cx="6095520" cy="16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400" b="1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Ключевая идея:</a:t>
            </a:r>
            <a:r>
              <a:rPr lang="ru-RU" sz="1400" b="0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 разделение на два этапа — сжатие (Encoder) и восстановление (Decoder). Латент хранит не пиксели, а структуру атмосферы: циклоны, фронты, распределение температуры и влажности.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400" b="1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Преимущества: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F1115"/>
              </a:buClr>
              <a:buFont typeface="Arial"/>
              <a:buChar char="•"/>
            </a:pPr>
            <a:r>
              <a:rPr lang="ru-RU" sz="1400" b="0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Сжатие в десятки раз → меньше памяти, быстрее передача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F1115"/>
              </a:buClr>
              <a:buFont typeface="Arial"/>
              <a:buChar char="•"/>
            </a:pPr>
            <a:r>
              <a:rPr lang="ru-RU" sz="1400" b="0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Последующие модели (прогноз, генерация) работают с латентом, а не с 7.2 млн значений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Рисунок 13"/>
          <p:cNvPicPr/>
          <p:nvPr/>
        </p:nvPicPr>
        <p:blipFill>
          <a:blip r:embed="rId2"/>
          <a:stretch/>
        </p:blipFill>
        <p:spPr>
          <a:xfrm>
            <a:off x="6735240" y="3165840"/>
            <a:ext cx="5234040" cy="273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Прямоугольник 14"/>
          <p:cNvSpPr/>
          <p:nvPr/>
        </p:nvSpPr>
        <p:spPr>
          <a:xfrm>
            <a:off x="8636040" y="2702520"/>
            <a:ext cx="1546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1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Архитектура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Прямоугольник 15"/>
          <p:cNvSpPr/>
          <p:nvPr/>
        </p:nvSpPr>
        <p:spPr>
          <a:xfrm>
            <a:off x="948240" y="2753280"/>
            <a:ext cx="23270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1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Структура обучения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4" descr="Picture background"/>
          <p:cNvPicPr/>
          <p:nvPr/>
        </p:nvPicPr>
        <p:blipFill>
          <a:blip r:embed="rId1"/>
          <a:stretch/>
        </p:blipFill>
        <p:spPr>
          <a:xfrm>
            <a:off x="0" y="0"/>
            <a:ext cx="12191760" cy="688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Прямоугольник 4"/>
          <p:cNvSpPr/>
          <p:nvPr/>
        </p:nvSpPr>
        <p:spPr>
          <a:xfrm>
            <a:off x="4179960" y="138960"/>
            <a:ext cx="49593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Результаты обучения и инференса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Рисунок 9"/>
          <p:cNvPicPr/>
          <p:nvPr/>
        </p:nvPicPr>
        <p:blipFill>
          <a:blip r:embed="rId2"/>
          <a:srcRect l="50867" t="3523" r="0" b="54021"/>
          <a:stretch/>
        </p:blipFill>
        <p:spPr>
          <a:xfrm>
            <a:off x="7521840" y="4166640"/>
            <a:ext cx="4261320" cy="2022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Рисунок 11"/>
          <p:cNvPicPr/>
          <p:nvPr/>
        </p:nvPicPr>
        <p:blipFill>
          <a:blip r:embed="rId3"/>
          <a:srcRect l="669" t="3523" r="49133" b="54021"/>
          <a:stretch/>
        </p:blipFill>
        <p:spPr>
          <a:xfrm>
            <a:off x="7511760" y="1765080"/>
            <a:ext cx="4261320" cy="197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Прямоугольник 12"/>
          <p:cNvSpPr/>
          <p:nvPr/>
        </p:nvSpPr>
        <p:spPr>
          <a:xfrm>
            <a:off x="8898840" y="1317600"/>
            <a:ext cx="17866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400" b="0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Результаты обучения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Рисунок 14"/>
          <p:cNvPicPr/>
          <p:nvPr/>
        </p:nvPicPr>
        <p:blipFill>
          <a:blip r:embed="rId4"/>
          <a:stretch/>
        </p:blipFill>
        <p:spPr>
          <a:xfrm>
            <a:off x="241560" y="5148720"/>
            <a:ext cx="3780360" cy="131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Рисунок 16"/>
          <p:cNvPicPr/>
          <p:nvPr/>
        </p:nvPicPr>
        <p:blipFill>
          <a:blip r:embed="rId5"/>
          <a:stretch/>
        </p:blipFill>
        <p:spPr>
          <a:xfrm>
            <a:off x="141480" y="3563280"/>
            <a:ext cx="3880440" cy="141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Рисунок 18"/>
          <p:cNvPicPr/>
          <p:nvPr/>
        </p:nvPicPr>
        <p:blipFill>
          <a:blip r:embed="rId6"/>
          <a:stretch/>
        </p:blipFill>
        <p:spPr>
          <a:xfrm>
            <a:off x="141480" y="2115720"/>
            <a:ext cx="3880440" cy="13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Прямоугольник 19"/>
          <p:cNvSpPr/>
          <p:nvPr/>
        </p:nvSpPr>
        <p:spPr>
          <a:xfrm>
            <a:off x="1094760" y="1319760"/>
            <a:ext cx="18950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400" b="0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Результаты инференса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Прямоугольник 20"/>
          <p:cNvSpPr/>
          <p:nvPr/>
        </p:nvSpPr>
        <p:spPr>
          <a:xfrm>
            <a:off x="886320" y="1712160"/>
            <a:ext cx="4168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до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Прямоугольник 21"/>
          <p:cNvSpPr/>
          <p:nvPr/>
        </p:nvSpPr>
        <p:spPr>
          <a:xfrm>
            <a:off x="2631240" y="1747440"/>
            <a:ext cx="7495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после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4" descr="Picture background"/>
          <p:cNvPicPr/>
          <p:nvPr/>
        </p:nvPicPr>
        <p:blipFill>
          <a:blip r:embed="rId1"/>
          <a:stretch/>
        </p:blipFill>
        <p:spPr>
          <a:xfrm>
            <a:off x="0" y="0"/>
            <a:ext cx="12191760" cy="688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Прямоугольник 5"/>
          <p:cNvSpPr/>
          <p:nvPr/>
        </p:nvSpPr>
        <p:spPr>
          <a:xfrm>
            <a:off x="3748680" y="3240"/>
            <a:ext cx="543132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Метод поиска оптимального датасета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2"/>
          <p:cNvSpPr/>
          <p:nvPr/>
        </p:nvSpPr>
        <p:spPr>
          <a:xfrm>
            <a:off x="2254320" y="4644000"/>
            <a:ext cx="360" cy="584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tIns="203040" rIns="0" bIns="101520" anchor="ctr">
            <a:sp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7" name="Прямоугольник 9"/>
          <p:cNvSpPr/>
          <p:nvPr/>
        </p:nvSpPr>
        <p:spPr>
          <a:xfrm>
            <a:off x="322920" y="581040"/>
            <a:ext cx="8857080" cy="31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Мы используем степенную аппроксимацию зависимости качества от размера датасета. Модель имеет вид f(x) = a + b · x^(-c), где a — теоретический предел (минимально достижимая ошибка при бесконечном размере данных), b — масштаб улучшения от начального качества, c — скорость насыщения кривой.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Параметры подбираются методом наименьших квадратов с помощью scipy.optimize.curve_fit. Начальные приближения вычисляются из данных: a0 как 95% от среднего лучших значений, b0 как разница между первой точкой и a0, c0 оценивается по средней точке выборки через логарифмическое преобразование.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Для определения точки плато используются четыре критерия. Первый — достижение 95% пути от начального качества до теоретического предела. Второй — достижение 99% пути до предела. Третий — относительный прирост менее половины процента за 100 дополнительных образцов. Четвёртый — абсолютный прирост менее 0.0001 за 100 образцов.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Итоговая рекомендация берётся как максимум из всех четырёх критериев — это даёт оценку, гарантирующую, что дальнейшее увеличение датасета не даст значимого улучшения ни по одному из показателей.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br>
              <a:rPr sz="1400"/>
            </a:b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8" name="Группа 12"/>
          <p:cNvGrpSpPr/>
          <p:nvPr/>
        </p:nvGrpSpPr>
        <p:grpSpPr>
          <a:xfrm>
            <a:off x="5394600" y="3118680"/>
            <a:ext cx="6538320" cy="3609000"/>
            <a:chOff x="5394600" y="3118680"/>
            <a:chExt cx="6538320" cy="3609000"/>
          </a:xfrm>
        </p:grpSpPr>
        <p:pic>
          <p:nvPicPr>
            <p:cNvPr id="99" name="Рисунок 10"/>
            <p:cNvPicPr/>
            <p:nvPr/>
          </p:nvPicPr>
          <p:blipFill>
            <a:blip r:embed="rId2"/>
            <a:stretch/>
          </p:blipFill>
          <p:spPr>
            <a:xfrm>
              <a:off x="5394600" y="3409200"/>
              <a:ext cx="6538320" cy="3318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0" name="Прямоугольник 11"/>
            <p:cNvSpPr/>
            <p:nvPr/>
          </p:nvSpPr>
          <p:spPr>
            <a:xfrm>
              <a:off x="7356240" y="3118680"/>
              <a:ext cx="2729880" cy="31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ru-RU" sz="1400" b="0" u="none" strike="noStrike">
                  <a:solidFill>
                    <a:schemeClr val="dk1"/>
                  </a:solidFill>
                  <a:effectLst/>
                  <a:uFillTx/>
                  <a:latin typeface="Times New Roman"/>
                </a:rPr>
                <a:t>график степенной апроксимации</a:t>
              </a: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1" name="Прямоугольник 13"/>
          <p:cNvSpPr/>
          <p:nvPr/>
        </p:nvSpPr>
        <p:spPr>
          <a:xfrm>
            <a:off x="1310400" y="3504960"/>
            <a:ext cx="18874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Результат работы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Прямоугольник 15"/>
          <p:cNvSpPr/>
          <p:nvPr/>
        </p:nvSpPr>
        <p:spPr>
          <a:xfrm>
            <a:off x="148680" y="3921840"/>
            <a:ext cx="5096880" cy="224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lang="ru-RU" sz="1400" b="1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Теоретический предел: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Предельно достижимое качество: 0.000082 ± 0.000049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Это минимальная ошибка, которую модель может дать при бесконечном размере датасета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ru-RU" sz="1400" b="1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Критерии плато: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216000" algn="just" defTabSz="914400">
              <a:lnSpc>
                <a:spcPct val="100000"/>
              </a:lnSpc>
              <a:buClr>
                <a:srgbClr val="0F1115"/>
              </a:buClr>
              <a:buFont typeface="Arial"/>
              <a:buChar char="•"/>
            </a:pPr>
            <a:r>
              <a:rPr lang="ru-RU" sz="1400" b="0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95% пути к пределу достигается при 1224 образцах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99% пути к пределу достигается при 6774 образцах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Прирост менее 0.5% за 100 образцов — при 4335 образцах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rgbClr val="0F1115"/>
                </a:solidFill>
                <a:effectLst/>
                <a:uFillTx/>
                <a:latin typeface="Times New Roman"/>
              </a:rPr>
              <a:t>Прирост менее 0.0001 абсолютных за 100 образцов — при 547 образцах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</TotalTime>
  <Application>LibreOffice/26.2.4.2$Linux_X86_64 LibreOffice_project/620$Build-2</Application>
  <AppVersion>15.0000</AppVersion>
  <Words>513</Words>
  <Paragraphs>55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2026-07-25T15:25:26Z</dcterms:created>
  <dc:creator>Александр</dc:creator>
  <dc:description/>
  <dc:language>ru-RU</dc:language>
  <cp:lastModifiedBy/>
  <dcterms:modified xsi:type="dcterms:W3CDTF">2026-07-26T04:43:05Z</dcterms:modified>
  <cp:revision>2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6</vt:i4>
  </property>
</Properties>
</file>