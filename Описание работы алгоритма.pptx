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6" d="100"/>
          <a:sy n="106" d="100"/>
        </p:scale>
        <p:origin x="78" y="2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B5A80D-330B-494F-8DEB-2522749D7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611E1B-1937-404B-B62B-3156105697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1D1E1E7-082D-4415-8724-4AEDED672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8AEDD04-4A7C-4817-AF9D-1BA25D546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F80BA8C-C154-4645-95DB-795D5AD2D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7655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32AC525-6832-43D5-AE01-C823ADCB4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286D1B-7C5A-47F4-AE2D-BBA6EC75E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C2B179-E454-4A96-8EC2-319384B6D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4BAB56D-69B6-482E-9B44-7CECA333B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8122578-9F53-4E49-BFDF-949D76FC2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0639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2C28F6-0E0E-47CF-9073-E3ACDF918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4CB1F22-A572-4357-B4A5-06F20B83D5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1EF3A5E-2E71-4823-A797-027542D63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F0EB44D-14DD-4FD8-B1E3-0880B3791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774AD05-2094-4E3E-BBBE-6A206686A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68695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A83A5A1-2D5E-4830-B10C-959A15B88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E4D1F32-E56C-40B7-864A-B0C14BA9B4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5F14C63-5238-4E65-8726-38F9E88851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E5C5433-A5DD-4490-B6A5-843C3719E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053A276-3E14-4E2C-8CD5-48E6A70956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0A88BB6-3047-4560-917A-67F2EC622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8543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E83A3E-4E60-4EE4-9AF9-C49ECF7B5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1B1D15F-58C9-4D2F-AEB7-7203D3321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3AC47E2-3889-4477-8CDC-98DD8A4BE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A62CCFC-1637-4639-98CA-A7FF46A2AF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3BFF57A-9A54-48F4-BE98-43F47B445E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0FCF923-EB1E-43DF-97C5-FE7AB8D71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E5ABF270-89A5-426C-918C-4BB5BED11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3FC2B70-6D65-439F-9098-1C8537B6D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6726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AFEAD5-E6DF-4E4E-BADD-4DC875E0C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C1650B50-7CF0-4657-9164-F65D70D7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8526EA6-8FEE-41B3-A362-5A104AB2B1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4CB0637-D786-4860-89DD-E44A48A8E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29553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3BA25882-844F-4EC8-8B66-CC491BCF05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782C127-83BC-44CB-B0C5-537B9F6BD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D9FBC06-1992-4EE2-A1B7-8F2EE5747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929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7682B6-9D7D-454D-BEB5-1F39FB47C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8337CB-6022-4E26-9059-B26A00B48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8665DDC-E5CF-4375-8192-C20767089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E223290-AD4F-440C-A66C-9837EAFAC4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F4976A6B-8C5F-47B9-92D7-5F503B44A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D6B35CE-6A85-4418-98E7-81D8C0F2C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1817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63C5B0-777D-4621-A39B-024F826E8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433A611-7259-4102-B99D-3F975172C2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CECE624B-826B-412E-BD9E-1A7B97F7A6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6A763F-5C7D-484B-9F25-BADC40F1B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F61359-3621-42B6-9206-595362D208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C81A3E8-A2CE-41F1-9557-635720EB2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00904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0E9E07-5B97-4087-8290-55DEC578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966E45-B49D-4494-B1DB-CFFA8C3540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D8B0AC1-2291-45BE-90F2-6FA2A21C8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63C933-6B82-4D2C-AC16-E166948DC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DFC7EDF-53B6-4166-A436-792AE87C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75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C62DAF-95E9-4526-BFF7-2BD3050735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F261DB2-53D5-4D49-B378-5E7871085E0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C6B370-0D78-47BA-AB4C-0B6104A8C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CBC96F1-6306-4BCF-9A2C-CB0FDFBCA2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A07C66-E83A-4D73-A0D3-D46B95F16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46652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D45E9F-8FC0-46F6-A2C8-5F891B96D6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A6AE12B-2218-4643-BD38-AB767E3D7A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A229442-8188-488D-A6A3-5350D7204C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4DA60E-07D8-44D0-B838-DCB23A056340}" type="datetimeFigureOut">
              <a:rPr lang="ru-RU" smtClean="0"/>
              <a:t>25.07.2026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677B40-2A72-4665-A15D-4E9144DBE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51DFAA4-D681-4C5E-B68A-4EA8F67FD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E08E92-1975-4C99-8CAC-6C001F5C470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4039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4" descr="Picture background">
            <a:extLst>
              <a:ext uri="{FF2B5EF4-FFF2-40B4-BE49-F238E27FC236}">
                <a16:creationId xmlns:a16="http://schemas.microsoft.com/office/drawing/2014/main" id="{A6F9CA4C-ABAE-4FCA-B361-0AA748117D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D6B7A5D8-71B1-4883-AA73-6AF05A400E94}"/>
              </a:ext>
            </a:extLst>
          </p:cNvPr>
          <p:cNvSpPr/>
          <p:nvPr/>
        </p:nvSpPr>
        <p:spPr>
          <a:xfrm>
            <a:off x="2964110" y="475804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ru-RU" sz="2400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0A8CEAD5-C490-46C0-8526-B785213F5853}"/>
              </a:ext>
            </a:extLst>
          </p:cNvPr>
          <p:cNvSpPr/>
          <p:nvPr/>
        </p:nvSpPr>
        <p:spPr>
          <a:xfrm>
            <a:off x="3116510" y="628204"/>
            <a:ext cx="6096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ru-RU" sz="2400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522B92E7-F316-47E8-8F94-5C2116691202}"/>
              </a:ext>
            </a:extLst>
          </p:cNvPr>
          <p:cNvSpPr/>
          <p:nvPr/>
        </p:nvSpPr>
        <p:spPr>
          <a:xfrm>
            <a:off x="2291347" y="-1"/>
            <a:ext cx="7746326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2800" b="1" dirty="0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Определение минимально необходимого размера для </a:t>
            </a:r>
            <a:r>
              <a:rPr lang="ru-RU" sz="2800" b="1" dirty="0" err="1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автоэнкодера</a:t>
            </a:r>
            <a:r>
              <a:rPr lang="ru-RU" sz="2800" b="1" dirty="0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атмофсердатасетаных</a:t>
            </a:r>
            <a:r>
              <a:rPr lang="ru-RU" sz="2800" b="1" dirty="0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 данных</a:t>
            </a: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A8A6E701-A5C1-488F-BEAA-000AF136A43D}"/>
              </a:ext>
            </a:extLst>
          </p:cNvPr>
          <p:cNvSpPr/>
          <p:nvPr/>
        </p:nvSpPr>
        <p:spPr>
          <a:xfrm>
            <a:off x="7571852" y="5824009"/>
            <a:ext cx="4604017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just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Название команды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Качки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Участники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Мантров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Александр Юрьевич @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mandoronov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Горьковенко Константин Андреевич @Piatnica_13</a:t>
            </a:r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Петрович Игорь Сергеевич @us2ern7ame</a:t>
            </a:r>
            <a:endParaRPr lang="ru-RU" sz="1400" b="1" dirty="0">
              <a:ln/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5091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 descr="Picture background">
            <a:extLst>
              <a:ext uri="{FF2B5EF4-FFF2-40B4-BE49-F238E27FC236}">
                <a16:creationId xmlns:a16="http://schemas.microsoft.com/office/drawing/2014/main" id="{82A02D45-38CB-4B38-B072-781D6583D8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4A8FC013-D969-4F89-AE2B-BC1FE9F8B143}"/>
              </a:ext>
            </a:extLst>
          </p:cNvPr>
          <p:cNvSpPr/>
          <p:nvPr/>
        </p:nvSpPr>
        <p:spPr>
          <a:xfrm>
            <a:off x="5110419" y="-1"/>
            <a:ext cx="249626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ru-RU" sz="2800" b="1" cap="none" spc="0" dirty="0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B3E9F3E9-0219-484C-B0D5-8AAA689E35DC}"/>
              </a:ext>
            </a:extLst>
          </p:cNvPr>
          <p:cNvGrpSpPr/>
          <p:nvPr/>
        </p:nvGrpSpPr>
        <p:grpSpPr>
          <a:xfrm>
            <a:off x="912070" y="1269820"/>
            <a:ext cx="10064447" cy="1908215"/>
            <a:chOff x="830589" y="971056"/>
            <a:chExt cx="10064447" cy="1908215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D2986680-EC13-47ED-B632-B5BFCAD9244E}"/>
                </a:ext>
              </a:extLst>
            </p:cNvPr>
            <p:cNvSpPr/>
            <p:nvPr/>
          </p:nvSpPr>
          <p:spPr>
            <a:xfrm>
              <a:off x="830589" y="971056"/>
              <a:ext cx="10064447" cy="73866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ru-RU" sz="1400" b="1" dirty="0"/>
                <a:t>Цель:</a:t>
              </a:r>
              <a:r>
                <a:rPr lang="ru-RU" sz="1400" dirty="0"/>
                <a:t> найти минимальный размер обучающей выборки, при котором качество </a:t>
              </a:r>
              <a:r>
                <a:rPr lang="ru-RU" sz="1400" dirty="0" err="1"/>
                <a:t>автоэнкодера</a:t>
              </a:r>
              <a:r>
                <a:rPr lang="ru-RU" sz="1400" dirty="0"/>
                <a:t> выходит на плато.</a:t>
              </a:r>
            </a:p>
            <a:p>
              <a:br>
                <a:rPr lang="ru-RU" sz="1400" dirty="0"/>
              </a:br>
              <a:endParaRPr lang="ru-RU" sz="1400" b="1" dirty="0">
                <a:ln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19050" dir="2700000" algn="tl" rotWithShape="0">
                    <a:schemeClr val="dk1">
                      <a:lumMod val="50000"/>
                      <a:alpha val="40000"/>
                    </a:schemeClr>
                  </a:outerShdw>
                </a:effectLst>
              </a:endParaRP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C82057EC-D8D8-4D64-B980-ACEF3FD88943}"/>
                </a:ext>
              </a:extLst>
            </p:cNvPr>
            <p:cNvSpPr/>
            <p:nvPr/>
          </p:nvSpPr>
          <p:spPr>
            <a:xfrm>
              <a:off x="830589" y="1709720"/>
              <a:ext cx="4596130" cy="116955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just"/>
              <a:r>
                <a:rPr lang="ru-RU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Задачи:</a:t>
              </a:r>
              <a:endParaRPr lang="ru-RU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just"/>
              <a:r>
                <a:rPr lang="ru-RU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1. Провести серию запусков с разным размером </a:t>
              </a:r>
              <a:r>
                <a:rPr lang="ru-RU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датасета</a:t>
              </a:r>
              <a:endParaRPr lang="ru-RU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just"/>
              <a:r>
                <a:rPr lang="ru-RU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2. Построить зависимость метрики от количества данных</a:t>
              </a:r>
            </a:p>
            <a:p>
              <a:pPr algn="just"/>
              <a:r>
                <a:rPr lang="ru-RU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3. Аппроксимировать степенную кривую</a:t>
              </a:r>
            </a:p>
            <a:p>
              <a:pPr algn="just"/>
              <a:r>
                <a:rPr lang="ru-RU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4. Определить точку насыщения по заданным критериям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039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4" descr="Picture background">
            <a:extLst>
              <a:ext uri="{FF2B5EF4-FFF2-40B4-BE49-F238E27FC236}">
                <a16:creationId xmlns:a16="http://schemas.microsoft.com/office/drawing/2014/main" id="{3D975F33-B1DA-4DC2-8F95-FBC885650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987527A5-702D-49CD-9555-664B90CB3C51}"/>
              </a:ext>
            </a:extLst>
          </p:cNvPr>
          <p:cNvSpPr/>
          <p:nvPr/>
        </p:nvSpPr>
        <p:spPr>
          <a:xfrm>
            <a:off x="5023238" y="166156"/>
            <a:ext cx="255185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Проблематика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FB2AB163-117D-4173-B2D7-48EDABC5BD35}"/>
              </a:ext>
            </a:extLst>
          </p:cNvPr>
          <p:cNvSpPr/>
          <p:nvPr/>
        </p:nvSpPr>
        <p:spPr>
          <a:xfrm>
            <a:off x="675991" y="1723076"/>
            <a:ext cx="716430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b="1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lang="ru-RU" sz="1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Данные ERA5: </a:t>
            </a:r>
            <a:r>
              <a:rPr lang="ru-RU" sz="140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28 × 360 × 720 ≈ 7.2 млн значений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на один срез</a:t>
            </a:r>
          </a:p>
          <a:p>
            <a:pPr algn="just"/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Сбор и хранение большого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датасета</a:t>
            </a:r>
            <a:endParaRPr lang="ru-RU" sz="14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Обучение на избыточных данных — трата GPU-часов</a:t>
            </a:r>
          </a:p>
          <a:p>
            <a:pPr algn="just"/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4. </a:t>
            </a:r>
            <a:r>
              <a:rPr lang="ru-RU" sz="140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Неизвестно заранее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сколько данных достаточно</a:t>
            </a:r>
          </a:p>
          <a:p>
            <a:pPr algn="just"/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5. </a:t>
            </a:r>
            <a:r>
              <a:rPr lang="ru-RU" sz="140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Решение</a:t>
            </a:r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найти плато эмпирически</a:t>
            </a:r>
          </a:p>
        </p:txBody>
      </p:sp>
    </p:spTree>
    <p:extLst>
      <p:ext uri="{BB962C8B-B14F-4D97-AF65-F5344CB8AC3E}">
        <p14:creationId xmlns:p14="http://schemas.microsoft.com/office/powerpoint/2010/main" val="23352091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4" descr="Picture background">
            <a:extLst>
              <a:ext uri="{FF2B5EF4-FFF2-40B4-BE49-F238E27FC236}">
                <a16:creationId xmlns:a16="http://schemas.microsoft.com/office/drawing/2014/main" id="{6705D5DD-79FA-4EC4-92DD-191BEF35C2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30178"/>
            <a:ext cx="12192000" cy="68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541D46E-37E8-47A0-947A-0C5F658A75CB}"/>
              </a:ext>
            </a:extLst>
          </p:cNvPr>
          <p:cNvSpPr/>
          <p:nvPr/>
        </p:nvSpPr>
        <p:spPr>
          <a:xfrm>
            <a:off x="3875129" y="157102"/>
            <a:ext cx="507671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Свёрточный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автокодировщик</a:t>
            </a:r>
            <a:endParaRPr lang="ru-RU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5ED3ADC-D442-4253-AFD1-18B0B0CED552}"/>
              </a:ext>
            </a:extLst>
          </p:cNvPr>
          <p:cNvSpPr/>
          <p:nvPr/>
        </p:nvSpPr>
        <p:spPr>
          <a:xfrm>
            <a:off x="7257861" y="1720840"/>
            <a:ext cx="445732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89BD5629-C0F5-4BD1-A380-B5E0AD2C319E}"/>
              </a:ext>
            </a:extLst>
          </p:cNvPr>
          <p:cNvGrpSpPr/>
          <p:nvPr/>
        </p:nvGrpSpPr>
        <p:grpSpPr>
          <a:xfrm>
            <a:off x="314098" y="2757213"/>
            <a:ext cx="3758696" cy="3534945"/>
            <a:chOff x="7390160" y="1845558"/>
            <a:chExt cx="4332082" cy="4273189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A421AC6-7E8F-4EC8-85C3-CBC034C7DBC3}"/>
                </a:ext>
              </a:extLst>
            </p:cNvPr>
            <p:cNvSpPr/>
            <p:nvPr/>
          </p:nvSpPr>
          <p:spPr>
            <a:xfrm>
              <a:off x="7390160" y="2339607"/>
              <a:ext cx="4332082" cy="377914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WeatherBench2 ERA5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↓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Случайный временной срез (28 каналов)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↓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Нормализация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↓</a:t>
              </a:r>
            </a:p>
            <a:p>
              <a:r>
                <a:rPr lang="ru-RU" sz="1400" dirty="0" err="1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Encoder</a:t>
              </a:r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→ </a:t>
              </a:r>
              <a:r>
                <a:rPr lang="ru-RU" sz="1400" dirty="0" err="1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Латент</a:t>
              </a:r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z (компактное представление)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↓</a:t>
              </a:r>
            </a:p>
            <a:p>
              <a:r>
                <a:rPr lang="ru-RU" sz="1400" dirty="0" err="1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Decoder</a:t>
              </a:r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→ Восстановленный ERA5</a:t>
              </a:r>
            </a:p>
            <a:p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      ↓</a:t>
              </a:r>
            </a:p>
            <a:p>
              <a:r>
                <a:rPr lang="ru-RU" sz="1400" dirty="0" err="1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Loss</a:t>
              </a:r>
              <a:r>
                <a:rPr lang="ru-RU" sz="1400" dirty="0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(ошибка реконструкции) → </a:t>
              </a:r>
              <a:r>
                <a:rPr lang="ru-RU" sz="1400" dirty="0" err="1">
                  <a:solidFill>
                    <a:schemeClr val="bg1">
                      <a:lumMod val="9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Backprop</a:t>
              </a:r>
              <a:endParaRPr lang="ru-RU" sz="1400" dirty="0">
                <a:solidFill>
                  <a:schemeClr val="bg1">
                    <a:lumMod val="9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endParaRPr lang="ru-RU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CD807B13-0DB7-4EC4-88CC-C7B614A080FD}"/>
                </a:ext>
              </a:extLst>
            </p:cNvPr>
            <p:cNvSpPr/>
            <p:nvPr/>
          </p:nvSpPr>
          <p:spPr>
            <a:xfrm>
              <a:off x="8839979" y="1845558"/>
              <a:ext cx="212912" cy="44646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endParaRPr lang="ru-RU" b="1" dirty="0"/>
            </a:p>
          </p:txBody>
        </p:sp>
      </p:grp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1D32979E-BB5F-4175-8746-AA18FA9CAEAA}"/>
              </a:ext>
            </a:extLst>
          </p:cNvPr>
          <p:cNvSpPr/>
          <p:nvPr/>
        </p:nvSpPr>
        <p:spPr>
          <a:xfrm>
            <a:off x="314098" y="1018070"/>
            <a:ext cx="6096000" cy="160043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Ключевая идея: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 разделение на два этапа — сжатие (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Encoder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и восстановление (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Decoder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Латент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хранит не пиксели, а структуру атмосферы: циклоны, фронты, распределение температуры и влажности.</a:t>
            </a:r>
          </a:p>
          <a:p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Преимущества:</a:t>
            </a:r>
            <a:endParaRPr lang="ru-RU" sz="14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Сжатие в десятки раз → меньше памяти, быстрее передача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Последующие модели (прогноз, генерация) работают с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латентом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а не с 7.2 млн значений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B057B06-1720-4C32-8603-8966ECF280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5146" y="3165909"/>
            <a:ext cx="5234577" cy="2739428"/>
          </a:xfrm>
          <a:prstGeom prst="rect">
            <a:avLst/>
          </a:prstGeom>
        </p:spPr>
      </p:pic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DD285A0B-83B5-4A5B-94E8-8FA0FE5A3933}"/>
              </a:ext>
            </a:extLst>
          </p:cNvPr>
          <p:cNvSpPr/>
          <p:nvPr/>
        </p:nvSpPr>
        <p:spPr>
          <a:xfrm>
            <a:off x="8636212" y="2702395"/>
            <a:ext cx="154741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Архитектура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BE25A625-87E6-4A46-81AA-76B6F5DFE6F8}"/>
              </a:ext>
            </a:extLst>
          </p:cNvPr>
          <p:cNvSpPr/>
          <p:nvPr/>
        </p:nvSpPr>
        <p:spPr>
          <a:xfrm>
            <a:off x="948215" y="2753366"/>
            <a:ext cx="2327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обучения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41916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4" descr="Picture background">
            <a:extLst>
              <a:ext uri="{FF2B5EF4-FFF2-40B4-BE49-F238E27FC236}">
                <a16:creationId xmlns:a16="http://schemas.microsoft.com/office/drawing/2014/main" id="{219210CC-D50B-4B6C-9E78-DC2CEE39B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0DFF0311-506B-4B96-B3A4-D03138572AA2}"/>
              </a:ext>
            </a:extLst>
          </p:cNvPr>
          <p:cNvSpPr/>
          <p:nvPr/>
        </p:nvSpPr>
        <p:spPr>
          <a:xfrm>
            <a:off x="4180075" y="138996"/>
            <a:ext cx="495962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обучения и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инференса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4135A60-1378-46D5-B68E-5145A1CA28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0866" t="3523" b="54022"/>
          <a:stretch/>
        </p:blipFill>
        <p:spPr>
          <a:xfrm>
            <a:off x="7521737" y="4166702"/>
            <a:ext cx="4261576" cy="202237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0C33A48-3D47-4C8A-9B92-56FC20491E2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69" t="3523" r="49134" b="54022"/>
          <a:stretch/>
        </p:blipFill>
        <p:spPr>
          <a:xfrm>
            <a:off x="7511916" y="1764929"/>
            <a:ext cx="4261577" cy="1979490"/>
          </a:xfrm>
          <a:prstGeom prst="rect">
            <a:avLst/>
          </a:prstGeom>
        </p:spPr>
      </p:pic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231A55C5-84DF-47D5-9EC3-DB55949F0159}"/>
              </a:ext>
            </a:extLst>
          </p:cNvPr>
          <p:cNvSpPr/>
          <p:nvPr/>
        </p:nvSpPr>
        <p:spPr>
          <a:xfrm>
            <a:off x="8898790" y="1317525"/>
            <a:ext cx="178689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обучения</a:t>
            </a:r>
            <a:endParaRPr lang="ru-RU" sz="1400" dirty="0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0B9F4B6F-F8AC-4E68-8082-9D79DA8C74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593" y="5148814"/>
            <a:ext cx="3780690" cy="1312306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D7DD588-EB6A-415F-AFFB-B434F761B4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93" y="3563173"/>
            <a:ext cx="3880790" cy="1416542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EDB392E5-46B0-4BB4-BDA4-9A904641003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93" y="2115894"/>
            <a:ext cx="3880790" cy="1347051"/>
          </a:xfrm>
          <a:prstGeom prst="rect">
            <a:avLst/>
          </a:prstGeom>
        </p:spPr>
      </p:pic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DA5FAEB8-2EFF-47A4-BBCC-17578FE2524C}"/>
              </a:ext>
            </a:extLst>
          </p:cNvPr>
          <p:cNvSpPr/>
          <p:nvPr/>
        </p:nvSpPr>
        <p:spPr>
          <a:xfrm>
            <a:off x="1094815" y="1319676"/>
            <a:ext cx="189532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Результаты </a:t>
            </a:r>
            <a:r>
              <a:rPr lang="ru-RU" sz="1400" dirty="0" err="1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инференса</a:t>
            </a:r>
            <a:endParaRPr lang="ru-RU" sz="1400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8B9F38FE-6957-4C20-9937-E271E43C59B2}"/>
              </a:ext>
            </a:extLst>
          </p:cNvPr>
          <p:cNvSpPr/>
          <p:nvPr/>
        </p:nvSpPr>
        <p:spPr>
          <a:xfrm>
            <a:off x="886264" y="1712003"/>
            <a:ext cx="4171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до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3F8F7FE7-FA08-45B2-8823-09F3A5F98CA4}"/>
              </a:ext>
            </a:extLst>
          </p:cNvPr>
          <p:cNvSpPr/>
          <p:nvPr/>
        </p:nvSpPr>
        <p:spPr>
          <a:xfrm>
            <a:off x="2631131" y="1747460"/>
            <a:ext cx="74988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после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91410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Picture background">
            <a:extLst>
              <a:ext uri="{FF2B5EF4-FFF2-40B4-BE49-F238E27FC236}">
                <a16:creationId xmlns:a16="http://schemas.microsoft.com/office/drawing/2014/main" id="{5877EC09-952B-4A7D-8CC9-2324BEE96A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881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CD71ED5-D5E9-42C4-BFD7-14056206BB1D}"/>
              </a:ext>
            </a:extLst>
          </p:cNvPr>
          <p:cNvSpPr/>
          <p:nvPr/>
        </p:nvSpPr>
        <p:spPr>
          <a:xfrm>
            <a:off x="3748598" y="3181"/>
            <a:ext cx="543161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поиска оптимального </a:t>
            </a:r>
            <a:r>
              <a:rPr lang="ru-RU" sz="24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датасета</a:t>
            </a:r>
            <a:endParaRPr lang="ru-RU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C80B74B6-F468-497C-A77F-96D27FC2BF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54313" y="4644063"/>
            <a:ext cx="65" cy="58467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203136" rIns="0" bIns="101568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116E7298-0725-431B-8EDA-5FB671D978A2}"/>
              </a:ext>
            </a:extLst>
          </p:cNvPr>
          <p:cNvSpPr/>
          <p:nvPr/>
        </p:nvSpPr>
        <p:spPr>
          <a:xfrm>
            <a:off x="322905" y="581017"/>
            <a:ext cx="8857308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Мы используем степенную аппроксимацию зависимости качества от размера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датасета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Модель имеет вид f(x) = a + b · x^(-c), где a — теоретический предел (минимально достижимая ошибка при бесконечном размере данных), b — масштаб улучшения от начального качества, c — скорость насыщения кривой.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Параметры подбираются методом наименьших квадратов с помощью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scipy.optimize.curve_fit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Начальные приближения вычисляются из данных: a0 как 95% от среднего лучших значений, b0 как разница между первой точкой и a0, c0 оценивается по средней точке выборки через логарифмическое преобразование.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Для определения точки плато используются четыре критерия. Первый — достижение 95% пути от начального качества до теоретического предела. Второй — достижение 99% пути до предела. Третий — относительный прирост менее половины процента за 100 дополнительных образцов. Четвёртый — абсолютный прирост менее 0.0001 за 100 образцов.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Итоговая рекомендация берётся как максимум из всех четырёх критериев — это даёт оценку, гарантирующую, что дальнейшее увеличение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датасета</a:t>
            </a: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не даст значимого улучшения ни по одному из показателей.</a:t>
            </a:r>
          </a:p>
          <a:p>
            <a:b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BDD8B923-809E-4B37-9060-D8133E42B6C0}"/>
              </a:ext>
            </a:extLst>
          </p:cNvPr>
          <p:cNvGrpSpPr/>
          <p:nvPr/>
        </p:nvGrpSpPr>
        <p:grpSpPr>
          <a:xfrm>
            <a:off x="5394433" y="3118843"/>
            <a:ext cx="6538827" cy="3609215"/>
            <a:chOff x="3048065" y="3313662"/>
            <a:chExt cx="6530173" cy="3527761"/>
          </a:xfrm>
        </p:grpSpPr>
        <p:pic>
          <p:nvPicPr>
            <p:cNvPr id="11" name="Рисунок 10">
              <a:extLst>
                <a:ext uri="{FF2B5EF4-FFF2-40B4-BE49-F238E27FC236}">
                  <a16:creationId xmlns:a16="http://schemas.microsoft.com/office/drawing/2014/main" id="{0684B09F-D7CE-4735-BB84-194EF68C5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48065" y="3597493"/>
              <a:ext cx="6530173" cy="3243930"/>
            </a:xfrm>
            <a:prstGeom prst="rect">
              <a:avLst/>
            </a:prstGeom>
          </p:spPr>
        </p:pic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A2F72F46-B2B3-4951-AC42-82018D374B9F}"/>
                </a:ext>
              </a:extLst>
            </p:cNvPr>
            <p:cNvSpPr/>
            <p:nvPr/>
          </p:nvSpPr>
          <p:spPr>
            <a:xfrm>
              <a:off x="5007432" y="3313662"/>
              <a:ext cx="2726708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график степенной </a:t>
              </a:r>
              <a:r>
                <a:rPr lang="ru-RU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апроксимации</a:t>
              </a:r>
              <a:endParaRPr lang="ru-RU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5BC02EAC-7D4C-4355-903C-71C12DC2CFCE}"/>
              </a:ext>
            </a:extLst>
          </p:cNvPr>
          <p:cNvSpPr/>
          <p:nvPr/>
        </p:nvSpPr>
        <p:spPr>
          <a:xfrm>
            <a:off x="1310432" y="3504894"/>
            <a:ext cx="188776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solidFill>
                  <a:srgbClr val="0F111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работы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9312F57-008F-41D7-9759-856A010FD6D0}"/>
              </a:ext>
            </a:extLst>
          </p:cNvPr>
          <p:cNvSpPr/>
          <p:nvPr/>
        </p:nvSpPr>
        <p:spPr>
          <a:xfrm>
            <a:off x="148666" y="3921902"/>
            <a:ext cx="5097101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Теоретический предел:</a:t>
            </a:r>
            <a:endParaRPr lang="ru-RU" sz="14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Предельно достижимое качество: 0.000082 ± 0.000049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Это минимальная ошибка, которую модель может дать при бесконечном размере </a:t>
            </a:r>
            <a:r>
              <a:rPr lang="ru-RU" sz="14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датасета</a:t>
            </a:r>
            <a:endParaRPr lang="ru-RU" sz="14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1400" b="1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Критерии плато:</a:t>
            </a:r>
            <a:endParaRPr lang="ru-RU" sz="1400" b="0" i="0" dirty="0">
              <a:solidFill>
                <a:srgbClr val="0F1115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Font typeface="Arial" panose="020B0604020202020204" pitchFamily="34" charset="0"/>
              <a:buChar char="•"/>
            </a:pPr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95% пути к пределу достигается при 1224 образцах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99% пути к пределу достигается при 6774 образцах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Прирост менее 0.5% за 100 образцов — при 4335 образцах</a:t>
            </a:r>
          </a:p>
          <a:p>
            <a:pPr algn="just"/>
            <a:r>
              <a:rPr lang="ru-RU" sz="14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Прирост менее 0.0001 абсолютных за 100 образцов — при 547 образцах</a:t>
            </a:r>
          </a:p>
        </p:txBody>
      </p:sp>
    </p:spTree>
    <p:extLst>
      <p:ext uri="{BB962C8B-B14F-4D97-AF65-F5344CB8AC3E}">
        <p14:creationId xmlns:p14="http://schemas.microsoft.com/office/powerpoint/2010/main" val="293872173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513</Words>
  <Application>Microsoft Office PowerPoint</Application>
  <PresentationFormat>Широкоэкранный</PresentationFormat>
  <Paragraphs>55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Александр</dc:creator>
  <cp:lastModifiedBy>Александр</cp:lastModifiedBy>
  <cp:revision>1</cp:revision>
  <dcterms:created xsi:type="dcterms:W3CDTF">2026-07-25T15:25:26Z</dcterms:created>
  <dcterms:modified xsi:type="dcterms:W3CDTF">2026-07-25T17:55:54Z</dcterms:modified>
</cp:coreProperties>
</file>